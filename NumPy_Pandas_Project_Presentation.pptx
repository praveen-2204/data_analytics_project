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FB951A-5323-4A42-B942-E6E9E8827EBA}" v="10" dt="2026-07-22T05:53:06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VIJAYAPURAM" userId="9483429d620d8e35" providerId="LiveId" clId="{9BEA74CD-052E-41AE-B41C-25604481392B}"/>
    <pc:docChg chg="undo redo custSel modSld">
      <pc:chgData name="PRAVEEN VIJAYAPURAM" userId="9483429d620d8e35" providerId="LiveId" clId="{9BEA74CD-052E-41AE-B41C-25604481392B}" dt="2026-07-22T05:58:27.101" v="315" actId="14100"/>
      <pc:docMkLst>
        <pc:docMk/>
      </pc:docMkLst>
      <pc:sldChg chg="modSp mod">
        <pc:chgData name="PRAVEEN VIJAYAPURAM" userId="9483429d620d8e35" providerId="LiveId" clId="{9BEA74CD-052E-41AE-B41C-25604481392B}" dt="2026-07-22T05:58:20.007" v="311" actId="14100"/>
        <pc:sldMkLst>
          <pc:docMk/>
          <pc:sldMk cId="0" sldId="260"/>
        </pc:sldMkLst>
        <pc:spChg chg="mod">
          <ac:chgData name="PRAVEEN VIJAYAPURAM" userId="9483429d620d8e35" providerId="LiveId" clId="{9BEA74CD-052E-41AE-B41C-25604481392B}" dt="2026-07-22T05:56:14.248" v="288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PRAVEEN VIJAYAPURAM" userId="9483429d620d8e35" providerId="LiveId" clId="{9BEA74CD-052E-41AE-B41C-25604481392B}" dt="2026-07-22T05:56:28.827" v="291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PRAVEEN VIJAYAPURAM" userId="9483429d620d8e35" providerId="LiveId" clId="{9BEA74CD-052E-41AE-B41C-25604481392B}" dt="2026-07-22T05:58:20.007" v="311" actId="14100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58:27.101" v="315" actId="14100"/>
        <pc:sldMkLst>
          <pc:docMk/>
          <pc:sldMk cId="0" sldId="261"/>
        </pc:sldMkLst>
        <pc:spChg chg="mod">
          <ac:chgData name="PRAVEEN VIJAYAPURAM" userId="9483429d620d8e35" providerId="LiveId" clId="{9BEA74CD-052E-41AE-B41C-25604481392B}" dt="2026-07-22T05:58:27.101" v="315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PRAVEEN VIJAYAPURAM" userId="9483429d620d8e35" providerId="LiveId" clId="{9BEA74CD-052E-41AE-B41C-25604481392B}" dt="2026-07-22T05:45:52.099" v="9" actId="20577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46:16.825" v="12" actId="14100"/>
        <pc:sldMkLst>
          <pc:docMk/>
          <pc:sldMk cId="0" sldId="262"/>
        </pc:sldMkLst>
        <pc:spChg chg="mod">
          <ac:chgData name="PRAVEEN VIJAYAPURAM" userId="9483429d620d8e35" providerId="LiveId" clId="{9BEA74CD-052E-41AE-B41C-25604481392B}" dt="2026-07-22T05:46:16.825" v="12" actId="14100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46:43.605" v="15" actId="14100"/>
        <pc:sldMkLst>
          <pc:docMk/>
          <pc:sldMk cId="0" sldId="263"/>
        </pc:sldMkLst>
        <pc:spChg chg="mod">
          <ac:chgData name="PRAVEEN VIJAYAPURAM" userId="9483429d620d8e35" providerId="LiveId" clId="{9BEA74CD-052E-41AE-B41C-25604481392B}" dt="2026-07-22T05:46:43.605" v="15" actId="14100"/>
          <ac:spMkLst>
            <pc:docMk/>
            <pc:sldMk cId="0" sldId="263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46:59.346" v="19" actId="20577"/>
        <pc:sldMkLst>
          <pc:docMk/>
          <pc:sldMk cId="0" sldId="264"/>
        </pc:sldMkLst>
        <pc:spChg chg="mod">
          <ac:chgData name="PRAVEEN VIJAYAPURAM" userId="9483429d620d8e35" providerId="LiveId" clId="{9BEA74CD-052E-41AE-B41C-25604481392B}" dt="2026-07-22T05:46:59.346" v="19" actId="20577"/>
          <ac:spMkLst>
            <pc:docMk/>
            <pc:sldMk cId="0" sldId="264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47:11.282" v="22" actId="20577"/>
        <pc:sldMkLst>
          <pc:docMk/>
          <pc:sldMk cId="0" sldId="265"/>
        </pc:sldMkLst>
        <pc:spChg chg="mod">
          <ac:chgData name="PRAVEEN VIJAYAPURAM" userId="9483429d620d8e35" providerId="LiveId" clId="{9BEA74CD-052E-41AE-B41C-25604481392B}" dt="2026-07-22T05:47:11.282" v="22" actId="20577"/>
          <ac:spMkLst>
            <pc:docMk/>
            <pc:sldMk cId="0" sldId="265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47:25.606" v="26" actId="20577"/>
        <pc:sldMkLst>
          <pc:docMk/>
          <pc:sldMk cId="0" sldId="266"/>
        </pc:sldMkLst>
        <pc:spChg chg="mod">
          <ac:chgData name="PRAVEEN VIJAYAPURAM" userId="9483429d620d8e35" providerId="LiveId" clId="{9BEA74CD-052E-41AE-B41C-25604481392B}" dt="2026-07-22T05:47:25.606" v="26" actId="20577"/>
          <ac:spMkLst>
            <pc:docMk/>
            <pc:sldMk cId="0" sldId="266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47:40.345" v="29" actId="20577"/>
        <pc:sldMkLst>
          <pc:docMk/>
          <pc:sldMk cId="0" sldId="267"/>
        </pc:sldMkLst>
        <pc:spChg chg="mod">
          <ac:chgData name="PRAVEEN VIJAYAPURAM" userId="9483429d620d8e35" providerId="LiveId" clId="{9BEA74CD-052E-41AE-B41C-25604481392B}" dt="2026-07-22T05:47:40.345" v="29" actId="20577"/>
          <ac:spMkLst>
            <pc:docMk/>
            <pc:sldMk cId="0" sldId="267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48:12.269" v="35" actId="20577"/>
        <pc:sldMkLst>
          <pc:docMk/>
          <pc:sldMk cId="0" sldId="268"/>
        </pc:sldMkLst>
        <pc:spChg chg="mod">
          <ac:chgData name="PRAVEEN VIJAYAPURAM" userId="9483429d620d8e35" providerId="LiveId" clId="{9BEA74CD-052E-41AE-B41C-25604481392B}" dt="2026-07-22T05:48:12.269" v="35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PRAVEEN VIJAYAPURAM" userId="9483429d620d8e35" providerId="LiveId" clId="{9BEA74CD-052E-41AE-B41C-25604481392B}" dt="2026-07-22T05:48:02.397" v="32" actId="20577"/>
          <ac:spMkLst>
            <pc:docMk/>
            <pc:sldMk cId="0" sldId="268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53:44.354" v="258" actId="14100"/>
        <pc:sldMkLst>
          <pc:docMk/>
          <pc:sldMk cId="0" sldId="270"/>
        </pc:sldMkLst>
        <pc:spChg chg="mod">
          <ac:chgData name="PRAVEEN VIJAYAPURAM" userId="9483429d620d8e35" providerId="LiveId" clId="{9BEA74CD-052E-41AE-B41C-25604481392B}" dt="2026-07-22T05:53:26.765" v="255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PRAVEEN VIJAYAPURAM" userId="9483429d620d8e35" providerId="LiveId" clId="{9BEA74CD-052E-41AE-B41C-25604481392B}" dt="2026-07-22T05:53:36.996" v="257" actId="14100"/>
          <ac:spMkLst>
            <pc:docMk/>
            <pc:sldMk cId="0" sldId="270"/>
            <ac:spMk id="9" creationId="{00000000-0000-0000-0000-000000000000}"/>
          </ac:spMkLst>
        </pc:spChg>
        <pc:spChg chg="mod">
          <ac:chgData name="PRAVEEN VIJAYAPURAM" userId="9483429d620d8e35" providerId="LiveId" clId="{9BEA74CD-052E-41AE-B41C-25604481392B}" dt="2026-07-22T05:53:44.354" v="258" actId="14100"/>
          <ac:spMkLst>
            <pc:docMk/>
            <pc:sldMk cId="0" sldId="270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54:16.640" v="260" actId="20577"/>
        <pc:sldMkLst>
          <pc:docMk/>
          <pc:sldMk cId="0" sldId="271"/>
        </pc:sldMkLst>
        <pc:spChg chg="mod">
          <ac:chgData name="PRAVEEN VIJAYAPURAM" userId="9483429d620d8e35" providerId="LiveId" clId="{9BEA74CD-052E-41AE-B41C-25604481392B}" dt="2026-07-22T05:54:16.640" v="260" actId="20577"/>
          <ac:spMkLst>
            <pc:docMk/>
            <pc:sldMk cId="0" sldId="271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54:34.104" v="264" actId="313"/>
        <pc:sldMkLst>
          <pc:docMk/>
          <pc:sldMk cId="0" sldId="272"/>
        </pc:sldMkLst>
        <pc:spChg chg="mod">
          <ac:chgData name="PRAVEEN VIJAYAPURAM" userId="9483429d620d8e35" providerId="LiveId" clId="{9BEA74CD-052E-41AE-B41C-25604481392B}" dt="2026-07-22T05:54:34.104" v="264" actId="313"/>
          <ac:spMkLst>
            <pc:docMk/>
            <pc:sldMk cId="0" sldId="272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54:48.391" v="268" actId="14100"/>
        <pc:sldMkLst>
          <pc:docMk/>
          <pc:sldMk cId="0" sldId="273"/>
        </pc:sldMkLst>
        <pc:spChg chg="mod">
          <ac:chgData name="PRAVEEN VIJAYAPURAM" userId="9483429d620d8e35" providerId="LiveId" clId="{9BEA74CD-052E-41AE-B41C-25604481392B}" dt="2026-07-22T05:54:48.391" v="268" actId="14100"/>
          <ac:spMkLst>
            <pc:docMk/>
            <pc:sldMk cId="0" sldId="273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55:03.285" v="271" actId="20577"/>
        <pc:sldMkLst>
          <pc:docMk/>
          <pc:sldMk cId="0" sldId="274"/>
        </pc:sldMkLst>
        <pc:spChg chg="mod">
          <ac:chgData name="PRAVEEN VIJAYAPURAM" userId="9483429d620d8e35" providerId="LiveId" clId="{9BEA74CD-052E-41AE-B41C-25604481392B}" dt="2026-07-22T05:55:03.285" v="271" actId="20577"/>
          <ac:spMkLst>
            <pc:docMk/>
            <pc:sldMk cId="0" sldId="274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55:17.644" v="276" actId="20577"/>
        <pc:sldMkLst>
          <pc:docMk/>
          <pc:sldMk cId="0" sldId="275"/>
        </pc:sldMkLst>
        <pc:spChg chg="mod">
          <ac:chgData name="PRAVEEN VIJAYAPURAM" userId="9483429d620d8e35" providerId="LiveId" clId="{9BEA74CD-052E-41AE-B41C-25604481392B}" dt="2026-07-22T05:55:17.644" v="276" actId="20577"/>
          <ac:spMkLst>
            <pc:docMk/>
            <pc:sldMk cId="0" sldId="275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55:32.886" v="281" actId="14100"/>
        <pc:sldMkLst>
          <pc:docMk/>
          <pc:sldMk cId="0" sldId="276"/>
        </pc:sldMkLst>
        <pc:spChg chg="mod">
          <ac:chgData name="PRAVEEN VIJAYAPURAM" userId="9483429d620d8e35" providerId="LiveId" clId="{9BEA74CD-052E-41AE-B41C-25604481392B}" dt="2026-07-22T05:55:32.886" v="281" actId="14100"/>
          <ac:spMkLst>
            <pc:docMk/>
            <pc:sldMk cId="0" sldId="276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55:44.046" v="286" actId="14100"/>
        <pc:sldMkLst>
          <pc:docMk/>
          <pc:sldMk cId="0" sldId="277"/>
        </pc:sldMkLst>
        <pc:spChg chg="mod">
          <ac:chgData name="PRAVEEN VIJAYAPURAM" userId="9483429d620d8e35" providerId="LiveId" clId="{9BEA74CD-052E-41AE-B41C-25604481392B}" dt="2026-07-22T05:55:44.046" v="286" actId="14100"/>
          <ac:spMkLst>
            <pc:docMk/>
            <pc:sldMk cId="0" sldId="277"/>
            <ac:spMk id="10" creationId="{00000000-0000-0000-0000-000000000000}"/>
          </ac:spMkLst>
        </pc:spChg>
      </pc:sldChg>
      <pc:sldChg chg="modSp mod">
        <pc:chgData name="PRAVEEN VIJAYAPURAM" userId="9483429d620d8e35" providerId="LiveId" clId="{9BEA74CD-052E-41AE-B41C-25604481392B}" dt="2026-07-22T05:55:52.375" v="287" actId="14100"/>
        <pc:sldMkLst>
          <pc:docMk/>
          <pc:sldMk cId="0" sldId="278"/>
        </pc:sldMkLst>
        <pc:spChg chg="mod">
          <ac:chgData name="PRAVEEN VIJAYAPURAM" userId="9483429d620d8e35" providerId="LiveId" clId="{9BEA74CD-052E-41AE-B41C-25604481392B}" dt="2026-07-22T05:55:52.375" v="287" actId="14100"/>
          <ac:spMkLst>
            <pc:docMk/>
            <pc:sldMk cId="0" sldId="278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755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10058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&amp; Pandas for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Analytics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data-analysis project on the Top 10,000 Asian Companies dataset — array computing with NumPy and tabular analysis with Pandas.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 •   Pandas   •   Exploratory Data Analysis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75688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31136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659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83080" y="237744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10,000 Asian companies — structure, fields, and scope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92240" y="178308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5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6748272" y="2075688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ub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231136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659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Foundations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35240" y="237744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indexing, statistics, linear algebra &amp; special matrices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42900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5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3721608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tab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877056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6118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Foundations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783080" y="402336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cleaning, filtering, grouping, merging &amp; pivoting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92240" y="342900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5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748272" y="3721608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fla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3877056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36118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35240" y="402336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two libraries anchor the Python data-science stack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10,000 Asian Companies Dataset</a:t>
            </a:r>
            <a:endParaRPr lang="en-US" sz="2800" dirty="0"/>
          </a:p>
        </p:txBody>
      </p:sp>
      <p:pic>
        <p:nvPicPr>
          <p:cNvPr id="4" name="Image 0" descr="icons/databas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CSV of company-level records across Asia. Each row is one company; each column is a workforce, industry, or financial attribute — suited to both NumPy arrays and Pandas tables.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10881360" cy="4242816"/>
          </a:xfrm>
          <a:prstGeom prst="roundRect">
            <a:avLst>
              <a:gd name="adj" fmla="val 1293"/>
            </a:avLst>
          </a:prstGeom>
          <a:solidFill>
            <a:srgbClr val="F5F8FA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6060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Company_Name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12080" y="260604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for each company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17296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0" y="3172968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of operation within Asia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73989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12080" y="373989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classification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30682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Employee_Count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12080" y="4306824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workforce size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4873752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Male_Employees / Female_Employees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12080" y="4873752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gender split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Annual_Revenue_INR_Crores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212080" y="544068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revenue (INR, Crores)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600760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Hiring_Rate (%)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212080" y="6007608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hiring activity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120640"/>
            <a:ext cx="4114800" cy="4114800"/>
          </a:xfrm>
          <a:prstGeom prst="ellipse">
            <a:avLst/>
          </a:prstGeom>
          <a:solidFill>
            <a:srgbClr val="065A82">
              <a:alpha val="42000"/>
            </a:srgbClr>
          </a:solidFill>
          <a:ln/>
        </p:spPr>
      </p:sp>
      <p:pic>
        <p:nvPicPr>
          <p:cNvPr id="3" name="Image 0" descr="icons/cub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2944368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NumPy: Array-Based Computing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68680" y="4114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provides the ndarray — a fast, memory-efficient, n-dimensional array — with vectorized operations that replace slow Python loops with compiled, element-wise computation.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Arrays &amp; Reading Their Shape</a:t>
            </a:r>
            <a:endParaRPr lang="en-US" sz="2800" dirty="0"/>
          </a:p>
        </p:txBody>
      </p:sp>
      <p:pic>
        <p:nvPicPr>
          <p:cNvPr id="4" name="Image 0" descr="icons/th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ndarray is NumPy's grid of same-type values in contiguous memory. ndim, shape and size describe its layout; reshape() changes that layout without copying data.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np.array() builds an ndarray from the numeric columns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ndim, shape, size describe the array's layout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reshape(5, -1) lets NumPy infer one dimension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59" y="1894115"/>
            <a:ext cx="7040881" cy="4963886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1927033"/>
            <a:ext cx="2743200" cy="304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2264053"/>
            <a:ext cx="6272784" cy="45134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Q1. Import NumPy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6FB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numpy </a:t>
            </a:r>
            <a:r>
              <a:rPr lang="en-US" sz="1500" dirty="0">
                <a:solidFill>
                  <a:srgbClr val="6FB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6FB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r>
              <a:rPr lang="en-US" sz="1500" dirty="0">
                <a:solidFill>
                  <a:srgbClr val="6FB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Q2. Create Arrays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"Top_10k_Asia_Companies.csv"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select_dtypes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(include=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Q3. Array Dimensions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 err="1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arr.ndim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Q4. Shape &amp; Size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arr.shape, </a:t>
            </a:r>
            <a:r>
              <a:rPr lang="en-US" sz="1500" dirty="0" err="1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arr.size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Q5. Reshape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-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).shape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Indexing, Slicing &amp; Selective Access</a:t>
            </a:r>
            <a:endParaRPr lang="en-US" sz="2800" dirty="0"/>
          </a:p>
        </p:txBody>
      </p:sp>
      <p:pic>
        <p:nvPicPr>
          <p:cNvPr id="4" name="Image 0" descr="icons/crosshairs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returns a view using start:stop:step. Boolean indexing filters with a True/False mask, and fancy indexing selects explicit index lists, always as a copy.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— arr[:3, :3] — returns a view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indexing — mask by a condition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Fancy indexing — explicit index lists, returns a copy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2318862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429000"/>
            <a:ext cx="6272784" cy="2916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Q6. Indexing &amp; Slicing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arr[: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: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Q7. Boolean Indexing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arr[arr[:,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arr[:,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()]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Q8. Fancy Indexing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arr[[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: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&amp; Statistical Operations</a:t>
            </a:r>
            <a:endParaRPr lang="en-US" sz="2800" dirty="0"/>
          </a:p>
        </p:txBody>
      </p:sp>
      <p:pic>
        <p:nvPicPr>
          <p:cNvPr id="4" name="Image 0" descr="icons/calculator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applies arithmetic element-wise via broadcasting. Built-in reducers — mean, std, sum, min, max — summarize an array in a single compiled pass.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+ 10 — broadcasted element-wise arithmetic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mean() and std() — central tendency and spread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sum(), min(), max() — aggregate reductions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236976"/>
            <a:ext cx="627278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Q9. Arithmetic Operations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+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Q10. Statistical Functions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(arr), 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 err="1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Q11. Aggregate Functions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(arr), 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(arr), 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Sorting, Searching &amp; Filtering</a:t>
            </a:r>
            <a:endParaRPr lang="en-US" sz="2800" dirty="0"/>
          </a:p>
        </p:txBody>
      </p:sp>
      <p:pic>
        <p:nvPicPr>
          <p:cNvPr id="4" name="Image 0" descr="icons/sort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returns a new ordered copy along an axis. where() is a vectorized search returning matching indices; filtering reuses boolean masks to keep values above a threshold.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sort(arr[:,0]) — ascending order of a column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where(condition) — indices where True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above the median with a boolean mask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236976"/>
            <a:ext cx="627278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Q12. Sorting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(arr[:,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Q13. Searching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(arr[:,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(arr[:,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Q14. Filtering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arr[arr[:,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(arr[:,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])]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Values &amp; Combining Arrays</a:t>
            </a:r>
            <a:endParaRPr lang="en-US" sz="2800" dirty="0"/>
          </a:p>
        </p:txBody>
      </p:sp>
      <p:pic>
        <p:nvPicPr>
          <p:cNvPr id="4" name="Image 0" descr="icons/layers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unique() returns an array's distinct values in sorted order. concatenate() joins arrays along an axis, requiring matching shapes on every other axis.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unique(df['Country']) — distinct country labels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concatenate((a, b)) — join along an axis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593592"/>
            <a:ext cx="6272784" cy="2752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Q15. Unique Values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'Country’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>
              <a:solidFill>
                <a:srgbClr val="D6E8F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Q16. Concatenate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((arr[: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arr[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&amp; Stacking Arrays</a:t>
            </a:r>
            <a:endParaRPr lang="en-US" sz="2800" dirty="0"/>
          </a:p>
        </p:txBody>
      </p:sp>
      <p:pic>
        <p:nvPicPr>
          <p:cNvPr id="4" name="Image 0" descr="icons/layers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array_split() divides one array into smaller arrays, tolerating uneven splits. vstack() combines arrays row-wise, building a taller array from shorter ones.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array_split(arr, 2) — divide into near-equal chunks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vstack((a, b)) — stack arrays vertically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526970"/>
            <a:ext cx="6272784" cy="2818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Q17. Split Arrays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array_split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>
              <a:solidFill>
                <a:srgbClr val="D6E8F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Q18. Stack Arrays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vstack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((arr[: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arr[: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Inserting, Deleting &amp; Reshaping Data</a:t>
            </a:r>
            <a:endParaRPr lang="en-US" sz="2800" dirty="0"/>
          </a:p>
        </p:txBody>
      </p:sp>
      <p:pic>
        <p:nvPicPr>
          <p:cNvPr id="4" name="Image 0" descr="icons/exchang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 adds values at a position along an axis; delete() removes elements at given indices — both return new arrays. flatten() collapses an array to 1-D as a copy.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insert(arr, 0, 0, axis=0) — insert a row of zeros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delete(arr, 1, axis=0) — remove a row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flatten() — collapse to a 1-D copy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429000"/>
            <a:ext cx="6272784" cy="2916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Q19. Insert/Delete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axis=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axis=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Q20. Flatten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Algebra: Transpose, Matmul &amp; Dot Product</a:t>
            </a:r>
            <a:endParaRPr lang="en-US" sz="2800" dirty="0"/>
          </a:p>
        </p:txBody>
      </p:sp>
      <p:pic>
        <p:nvPicPr>
          <p:cNvPr id="4" name="Image 0" descr="icons/project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 flips an array's axes, turning rows into columns. Matrix multiplication follows row·column rules; the dot product sums element-wise products of two vectors.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arr.T — transpose swaps rows and columns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 follows row · column rules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dot(v1, v2) — sum of element-wise products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321698"/>
            <a:ext cx="6272784" cy="3024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Q21. Transpose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 err="1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arr.T</a:t>
            </a:r>
            <a:endParaRPr lang="en-US" sz="1500" dirty="0">
              <a:solidFill>
                <a:srgbClr val="D6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Q22. Matrix Multiplication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arr[: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: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 err="1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arr.T</a:t>
            </a:r>
            <a:endParaRPr lang="en-US" sz="1500" dirty="0">
              <a:solidFill>
                <a:srgbClr val="D6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Q23. Dot Product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(arr[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arr[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Arrays: Random, Identity &amp; Diagonal</a:t>
            </a:r>
            <a:endParaRPr lang="en-US" sz="2800" dirty="0"/>
          </a:p>
        </p:txBody>
      </p:sp>
      <p:pic>
        <p:nvPicPr>
          <p:cNvPr id="4" name="Image 0" descr="icons/border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random.rand() draws uniform [0,1) values into a new array. eye() builds an identity matrix; diag() builds a diagonal matrix from a list of values.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random.rand(3, 3) — uniform random 3×3 matrix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eye(5) — 5×5 identity matrix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diag([1,2,3,4,5]) — diagonal matrix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429000"/>
            <a:ext cx="6272784" cy="2916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Q24. Random Arrays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Q25. Identity Matrix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Q26. Diagonal Matrix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120640"/>
            <a:ext cx="4114800" cy="4114800"/>
          </a:xfrm>
          <a:prstGeom prst="ellipse">
            <a:avLst/>
          </a:prstGeom>
          <a:solidFill>
            <a:srgbClr val="065A82">
              <a:alpha val="42000"/>
            </a:srgbClr>
          </a:solidFill>
          <a:ln/>
        </p:spPr>
      </p:sp>
      <p:pic>
        <p:nvPicPr>
          <p:cNvPr id="3" name="Image 0" descr="icons/tab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2944368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Pandas: Tabular Data Analysis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68680" y="4114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builds on NumPy to add labeled, heterogeneous data structures — Series and DataFrame — plus tools for cleaning, filtering, grouping, and reshaping tabular data.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&amp; Inspecting the Dataset</a:t>
            </a:r>
            <a:endParaRPr lang="en-US" sz="2800" dirty="0"/>
          </a:p>
        </p:txBody>
      </p:sp>
      <p:pic>
        <p:nvPicPr>
          <p:cNvPr id="4" name="Image 0" descr="icons/filecsv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read_csv() parses a CSV into a labeled DataFrame. Checking shape, columns, dtypes plus describe() and info() gives a quick structural and statistical summary.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read_csv(path) — load the CSV into a DataFrame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columns, dtypes — structure at a glance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and info() — statistical &amp; structural summary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922107"/>
            <a:ext cx="6858000" cy="4906634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1955025"/>
            <a:ext cx="2743200" cy="276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2267712"/>
            <a:ext cx="6272784" cy="4078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Q1. Import Pandas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6FB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r>
              <a:rPr lang="en-US" sz="1500" dirty="0">
                <a:solidFill>
                  <a:srgbClr val="6FB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Q2. Load CSV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"Top_10k_Asia_Companies.csv"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Q3. Display Data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Q4. Shape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Q5. Columns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 err="1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Q6. Data Types                     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 err="1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Q7. Describe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 err="1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 err="1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Q8. Info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Data</a:t>
            </a:r>
            <a:endParaRPr lang="en-US" sz="2800" dirty="0"/>
          </a:p>
        </p:txBody>
      </p:sp>
      <p:pic>
        <p:nvPicPr>
          <p:cNvPr id="4" name="Image 0" descr="icons/warning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 counts missing values per column. dropna() removes rows with gaps, while fillna() replaces them with a chosen value instead.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 — missing-value count per column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— remove rows with any missing value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fillna(0) — replace missing values with a fixed value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2990088"/>
            <a:ext cx="6272784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Q9. Missing Values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isnull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Q10. Drop Missing Values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dropna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().shape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Q11. Fill Missing Values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Renaming, Adding &amp; Dropping Columns</a:t>
            </a:r>
            <a:endParaRPr lang="en-US" sz="2800" dirty="0"/>
          </a:p>
        </p:txBody>
      </p:sp>
      <p:pic>
        <p:nvPicPr>
          <p:cNvPr id="4" name="Image 0" descr="icons/columns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rename() relabels columns via a dictionary. assign() adds derived columns and returns a new DataFrame; drop(columns=[...]) removes columns no longer needed.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rename(columns={'old':'new'}) — relabel a column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assign(Total=...) — add a computed column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drop(columns=[...]) — remove one or more columns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2990088"/>
            <a:ext cx="6272784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Q12. Rename Columns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(columns={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'Company_Name'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'Company’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Q13. Add New Column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Total_Employees=df[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'Male_Employees'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+ df[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500" dirty="0" err="1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Female_Employees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’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Q14. Delete Column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(columns=[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'Hiring_Rate (%)'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with One or More Conditions</a:t>
            </a:r>
            <a:endParaRPr lang="en-US" sz="2800" dirty="0"/>
          </a:p>
        </p:txBody>
      </p:sp>
      <p:pic>
        <p:nvPicPr>
          <p:cNvPr id="4" name="Image 0" descr="icons/filter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masks filter rows that satisfy a condition, such as Country == 'India'. Multiple conditions combine with &amp; / |, each wrapped in parentheses.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df[df['Country'] == 'India'] — single-condition filter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df[(cond1) &amp; (cond2)] — combine with &amp; / |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236976"/>
            <a:ext cx="627278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Q15. Filtering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'Country'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'India’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Q16. Multiple Conditions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'Country'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'India'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&amp;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'Employee_Count'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</a:t>
            </a:r>
            <a:r>
              <a:rPr lang="en-US" sz="1500" dirty="0">
                <a:solidFill>
                  <a:srgbClr val="9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Rows &amp; Grouping Data</a:t>
            </a:r>
            <a:endParaRPr lang="en-US" sz="2800" dirty="0"/>
          </a:p>
        </p:txBody>
      </p:sp>
      <p:pic>
        <p:nvPicPr>
          <p:cNvPr id="4" name="Image 0" descr="icons/sort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sort_values() reorders rows by a column, descending with ascending=False. groupby() splits rows into groups by a key, ready for per-group summaries.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sort_values('col', ascending=False) — rank rows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groupby('key') — split rows into groups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groupby(...).size() — row count per group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129076"/>
            <a:ext cx="6272784" cy="3216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Q17. Sorting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sort_values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'Annual_Revenue_INR_Crores'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ascending=</a:t>
            </a:r>
            <a:r>
              <a:rPr lang="en-US" sz="1500" dirty="0">
                <a:solidFill>
                  <a:srgbClr val="6FB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>
              <a:solidFill>
                <a:srgbClr val="D6E8F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Q18. GroupBy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'Industry'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Aggregation, Value Counts &amp; Unique Values</a:t>
            </a:r>
            <a:endParaRPr lang="en-US" sz="2800" dirty="0"/>
          </a:p>
        </p:txBody>
      </p:sp>
      <p:pic>
        <p:nvPicPr>
          <p:cNvPr id="4" name="Image 0" descr="icons/chartbar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agg() applies several summary functions to grouped data at once. value_counts() tallies how often each value appears; unique() lists the distinct values themselves.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groupby(...).agg(['mean','sum']) — multiple aggregates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 — frequency of each distinct value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unique() — the distinct values themselves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2990088"/>
            <a:ext cx="6272784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Q19. Aggregation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'Country'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'Annual_Revenue_INR_Crores'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]\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'sum’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>
              <a:solidFill>
                <a:srgbClr val="D6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Q20. Value Counts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'Country'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500" dirty="0" err="1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>
              <a:solidFill>
                <a:srgbClr val="D6E8F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Q21. Unique Values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'Industry'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&amp; Removing Duplicate Rows</a:t>
            </a:r>
            <a:endParaRPr lang="en-US" sz="2800" dirty="0"/>
          </a:p>
        </p:txBody>
      </p:sp>
      <p:pic>
        <p:nvPicPr>
          <p:cNvPr id="4" name="Image 0" descr="icons/clon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duplicated() flags rows that exactly repeat an earlier row. drop_duplicates() removes those rows, keeping the first occurrence by default.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duplicated().sum() — count of duplicate rows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 — keep only the first occurrence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429000"/>
            <a:ext cx="6272784" cy="2916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Q22. Duplicates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duplicated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>
              <a:solidFill>
                <a:srgbClr val="D6E8F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>
              <a:solidFill>
                <a:srgbClr val="D6E8F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Q23. Drop Duplicates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().shape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&amp; Joining DataFrames</a:t>
            </a:r>
            <a:endParaRPr lang="en-US" sz="2800" dirty="0"/>
          </a:p>
        </p:txBody>
      </p:sp>
      <p:pic>
        <p:nvPicPr>
          <p:cNvPr id="4" name="Image 0" descr="icons/objectgroup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combines two DataFrames on a shared key column, like a SQL join. join() does the same but matches on the DataFrame's index instead.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merge(left, right, on='key') — SQL-style column join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set_index('key').join(...) — index-based join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429000"/>
            <a:ext cx="6272784" cy="2916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Q24. Merge DataFrames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(left, right, on=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500" dirty="0" err="1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Company_Name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’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500" dirty="0">
              <a:solidFill>
                <a:srgbClr val="D6E8F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>
              <a:solidFill>
                <a:srgbClr val="D6E8F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Q25. Join DataFrames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set_index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'Company_Name'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)\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(right.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set_index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'Company_Name'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Tables for Summary Views</a:t>
            </a:r>
            <a:endParaRPr lang="en-US" sz="2800" dirty="0"/>
          </a:p>
        </p:txBody>
      </p:sp>
      <p:pic>
        <p:nvPicPr>
          <p:cNvPr id="4" name="Image 0" descr="icons/tabl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5331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pivot_table() groups by an index column, computes an aggregate, and lays results out as a summary grid — much like a spreadsheet pivot table.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10881360" cy="16459"/>
          </a:xfrm>
          <a:prstGeom prst="rect">
            <a:avLst/>
          </a:prstGeom>
          <a:solidFill>
            <a:srgbClr val="E3EA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487168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pivot_table(df, index=, values=, aggfunc=)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aggregates, and reshapes in one call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2487168"/>
            <a:ext cx="6858000" cy="4041648"/>
          </a:xfrm>
          <a:prstGeom prst="roundRect">
            <a:avLst>
              <a:gd name="adj" fmla="val 1810"/>
            </a:avLst>
          </a:prstGeom>
          <a:solidFill>
            <a:srgbClr val="0E1A2B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01768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1768" y="3593592"/>
            <a:ext cx="6272784" cy="2752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7F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Q26. Pivot Table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</a:t>
            </a:r>
            <a:r>
              <a:rPr lang="en-US" sz="150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df,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'Country'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values=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'Annual_Revenue_INR_Crores'</a:t>
            </a: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aggfunc=</a:t>
            </a:r>
            <a:r>
              <a:rPr lang="en-US" sz="15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'mean'</a:t>
            </a:r>
            <a:endParaRPr lang="en-US" sz="15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D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pic>
        <p:nvPicPr>
          <p:cNvPr id="4" name="Image 0" descr="icons/flag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F5F8FA"/>
          </a:solidFill>
          <a:ln w="12700">
            <a:solidFill>
              <a:srgbClr val="E7ED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00253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0025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1819656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is the foundation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37360" y="222199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ndarrays and vectorized math underpin virtually every numerical Python library, including Pandas itself.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962656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7ED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32735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273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737360" y="3090672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adds structure &amp; labels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737360" y="349300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bring column names, mixed types, and expressive filtering/grouping on top of NumPy's speed.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4233672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F5F8FA"/>
          </a:solidFill>
          <a:ln w="12700">
            <a:solidFill>
              <a:srgbClr val="E7ED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454456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5445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737360" y="4361688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patterns recur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737360" y="4764024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filtering, aggregating, and reshaping data are the core operations behind almost any analysis.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504688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7ED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581558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58155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737360" y="5632704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dataset exercised both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737360" y="60350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NumPy operations and 26 Pandas operations were applied to the same 10,000-company dataset.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7500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9659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 Project — Questions &amp; Discussion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2418</Words>
  <Application>Microsoft Office PowerPoint</Application>
  <PresentationFormat>Widescreen</PresentationFormat>
  <Paragraphs>381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PRAVEEN VIJAYAPURAM</cp:lastModifiedBy>
  <cp:revision>1</cp:revision>
  <dcterms:created xsi:type="dcterms:W3CDTF">2026-07-21T10:58:36Z</dcterms:created>
  <dcterms:modified xsi:type="dcterms:W3CDTF">2026-07-22T05:58:28Z</dcterms:modified>
</cp:coreProperties>
</file>