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384" y="-18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VIJAYAPURAM" userId="9483429d620d8e35" providerId="LiveId" clId="{9BEA74CD-052E-41AE-B41C-25604481392B}"/>
    <pc:docChg chg="modSld sldOrd">
      <pc:chgData name="PRAVEEN VIJAYAPURAM" userId="9483429d620d8e35" providerId="LiveId" clId="{9BEA74CD-052E-41AE-B41C-25604481392B}" dt="2026-07-26T05:33:14.251" v="19"/>
      <pc:docMkLst>
        <pc:docMk/>
      </pc:docMkLst>
      <pc:sldChg chg="modSp mod">
        <pc:chgData name="PRAVEEN VIJAYAPURAM" userId="9483429d620d8e35" providerId="LiveId" clId="{9BEA74CD-052E-41AE-B41C-25604481392B}" dt="2026-07-20T07:35:13.960" v="17" actId="20577"/>
        <pc:sldMkLst>
          <pc:docMk/>
          <pc:sldMk cId="0" sldId="256"/>
        </pc:sldMkLst>
        <pc:spChg chg="mod">
          <ac:chgData name="PRAVEEN VIJAYAPURAM" userId="9483429d620d8e35" providerId="LiveId" clId="{9BEA74CD-052E-41AE-B41C-25604481392B}" dt="2026-07-20T07:35:13.960" v="17" actId="20577"/>
          <ac:spMkLst>
            <pc:docMk/>
            <pc:sldMk cId="0" sldId="256"/>
            <ac:spMk id="12" creationId="{00000000-0000-0000-0000-000000000000}"/>
          </ac:spMkLst>
        </pc:spChg>
      </pc:sldChg>
      <pc:sldChg chg="ord">
        <pc:chgData name="PRAVEEN VIJAYAPURAM" userId="9483429d620d8e35" providerId="LiveId" clId="{9BEA74CD-052E-41AE-B41C-25604481392B}" dt="2026-07-26T05:33:14.251" v="19"/>
        <pc:sldMkLst>
          <pc:docMk/>
          <pc:sldMk cId="0" sldId="25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(M)</c:v>
                </c:pt>
              </c:strCache>
            </c:strRef>
          </c:tx>
          <c:spPr>
            <a:solidFill>
              <a:srgbClr val="1E2761">
                <a:alpha val="100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A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Vietnam</c:v>
                </c:pt>
                <c:pt idx="1">
                  <c:v>India</c:v>
                </c:pt>
                <c:pt idx="2">
                  <c:v>Singapore</c:v>
                </c:pt>
                <c:pt idx="3">
                  <c:v>South Korea</c:v>
                </c:pt>
                <c:pt idx="4">
                  <c:v>China</c:v>
                </c:pt>
                <c:pt idx="5">
                  <c:v>Indonesia</c:v>
                </c:pt>
                <c:pt idx="6">
                  <c:v>Taiwan</c:v>
                </c:pt>
                <c:pt idx="7">
                  <c:v>Japan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66.099999999999994</c:v>
                </c:pt>
                <c:pt idx="1">
                  <c:v>65.3</c:v>
                </c:pt>
                <c:pt idx="2">
                  <c:v>62.2</c:v>
                </c:pt>
                <c:pt idx="3">
                  <c:v>62.2</c:v>
                </c:pt>
                <c:pt idx="4">
                  <c:v>61.8</c:v>
                </c:pt>
                <c:pt idx="5">
                  <c:v>61.8</c:v>
                </c:pt>
                <c:pt idx="6">
                  <c:v>61.4</c:v>
                </c:pt>
                <c:pt idx="7">
                  <c:v>61.1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A5-49C1-B212-DE909F35E3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90"/>
                    </a:solidFill>
                    <a:latin typeface="Arial"/>
                  </a:rPr>
                  <a:t>Employees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22A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Software Dev.</c:v>
                </c:pt>
                <c:pt idx="1">
                  <c:v>Hardware</c:v>
                </c:pt>
                <c:pt idx="2">
                  <c:v>IT Services</c:v>
                </c:pt>
                <c:pt idx="3">
                  <c:v>E-commerce</c:v>
                </c:pt>
                <c:pt idx="4">
                  <c:v>AI / Data Sci.</c:v>
                </c:pt>
                <c:pt idx="5">
                  <c:v>Cloud Comp.</c:v>
                </c:pt>
                <c:pt idx="6">
                  <c:v>Telecom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75.7</c:v>
                </c:pt>
                <c:pt idx="1">
                  <c:v>74.599999999999994</c:v>
                </c:pt>
                <c:pt idx="2">
                  <c:v>74.2</c:v>
                </c:pt>
                <c:pt idx="3">
                  <c:v>72.3</c:v>
                </c:pt>
                <c:pt idx="4">
                  <c:v>69.7</c:v>
                </c:pt>
                <c:pt idx="5">
                  <c:v>68</c:v>
                </c:pt>
                <c:pt idx="6">
                  <c:v>67.400000000000006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65-47B6-8966-CBA8F41FD0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 (M)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22A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Software Dev.</c:v>
                </c:pt>
                <c:pt idx="1">
                  <c:v>Hardware</c:v>
                </c:pt>
                <c:pt idx="2">
                  <c:v>IT Services</c:v>
                </c:pt>
                <c:pt idx="3">
                  <c:v>E-commerce</c:v>
                </c:pt>
                <c:pt idx="4">
                  <c:v>AI / Data Sci.</c:v>
                </c:pt>
                <c:pt idx="5">
                  <c:v>Cloud Comp.</c:v>
                </c:pt>
                <c:pt idx="6">
                  <c:v>Telecom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3.62</c:v>
                </c:pt>
                <c:pt idx="1">
                  <c:v>3.67</c:v>
                </c:pt>
                <c:pt idx="2">
                  <c:v>3.58</c:v>
                </c:pt>
                <c:pt idx="3">
                  <c:v>3.52</c:v>
                </c:pt>
                <c:pt idx="4">
                  <c:v>3.45</c:v>
                </c:pt>
                <c:pt idx="5">
                  <c:v>3.4</c:v>
                </c:pt>
                <c:pt idx="6">
                  <c:v>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71-4F4E-8F90-9B98CDED9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(LPA)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A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Singapore</c:v>
                </c:pt>
                <c:pt idx="1">
                  <c:v>Taiwan</c:v>
                </c:pt>
                <c:pt idx="2">
                  <c:v>South Korea</c:v>
                </c:pt>
                <c:pt idx="3">
                  <c:v>China</c:v>
                </c:pt>
                <c:pt idx="4">
                  <c:v>India</c:v>
                </c:pt>
                <c:pt idx="5">
                  <c:v>Vietnam</c:v>
                </c:pt>
                <c:pt idx="6">
                  <c:v>Japan</c:v>
                </c:pt>
                <c:pt idx="7">
                  <c:v>Indonesia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17.45</c:v>
                </c:pt>
                <c:pt idx="1">
                  <c:v>17.329999999999998</c:v>
                </c:pt>
                <c:pt idx="2">
                  <c:v>16.940000000000001</c:v>
                </c:pt>
                <c:pt idx="3">
                  <c:v>16.93</c:v>
                </c:pt>
                <c:pt idx="4">
                  <c:v>16.850000000000001</c:v>
                </c:pt>
                <c:pt idx="5">
                  <c:v>16.78</c:v>
                </c:pt>
                <c:pt idx="6">
                  <c:v>16.75</c:v>
                </c:pt>
                <c:pt idx="7">
                  <c:v>16.670000000000002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C8-458E-A5C0-116D7DF609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600000000000001"/>
          <c:min val="16"/>
        </c:scaling>
        <c:delete val="0"/>
        <c:axPos val="l"/>
        <c:majorGridlines>
          <c:spPr>
            <a:ln w="9525" cap="flat">
              <a:solidFill>
                <a:srgbClr val="E1E5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90"/>
                    </a:solidFill>
                    <a:latin typeface="Arial"/>
                  </a:rPr>
                  <a:t>Avg Salary (LPA)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B4-485C-9E12-BBA7A2EEDBE1}"/>
              </c:ext>
            </c:extLst>
          </c:dPt>
          <c:dPt>
            <c:idx val="1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B4-485C-9E12-BBA7A2EEDBE1}"/>
              </c:ext>
            </c:extLst>
          </c:dPt>
          <c:dLbls>
            <c:dLbl>
              <c:idx val="0"/>
              <c:numFmt formatCode="0.0&quot;M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B4-485C-9E12-BBA7A2EEDBE1}"/>
                </c:ext>
              </c:extLst>
            </c:dLbl>
            <c:dLbl>
              <c:idx val="1"/>
              <c:numFmt formatCode="0.0&quot;M&quot;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B4-485C-9E12-BBA7A2EEDBE1}"/>
                </c:ext>
              </c:extLst>
            </c:dLbl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Employees</c:v>
                </c:pt>
                <c:pt idx="1">
                  <c:v>Female Employees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301.3</c:v>
                </c:pt>
                <c:pt idx="1">
                  <c:v>200.5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B4-485C-9E12-BBA7A2EED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22A4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22A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Large</c:v>
                </c:pt>
                <c:pt idx="1">
                  <c:v>Medium</c:v>
                </c:pt>
                <c:pt idx="2">
                  <c:v>Small</c:v>
                </c:pt>
                <c:pt idx="3">
                  <c:v>Startup</c:v>
                </c:pt>
                <c:pt idx="4">
                  <c:v>Enterprise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5002</c:v>
                </c:pt>
                <c:pt idx="1">
                  <c:v>3001</c:v>
                </c:pt>
                <c:pt idx="2">
                  <c:v>1488</c:v>
                </c:pt>
                <c:pt idx="3">
                  <c:v>501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4-4BF9-BEA3-BA8600AD9E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90"/>
                    </a:solidFill>
                    <a:latin typeface="Arial"/>
                  </a:rPr>
                  <a:t>Number of Companies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98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5029200"/>
            <a:ext cx="4572000" cy="4572000"/>
          </a:xfrm>
          <a:prstGeom prst="ellipse">
            <a:avLst/>
          </a:prstGeom>
          <a:solidFill>
            <a:srgbClr val="1A21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3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10,000 Asia</a:t>
            </a:r>
            <a:endParaRPr lang="en-US" sz="4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Dashboard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621792" y="28803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workforce, compensation and hiring patterns across Asia's largest employers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  </a:t>
            </a:r>
            <a:r>
              <a:rPr lang="en-US" sz="12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2587752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  </a:t>
            </a:r>
            <a:r>
              <a:rPr lang="en-US" sz="12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4553712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 </a:t>
            </a:r>
            <a:r>
              <a:rPr lang="en-US" sz="12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2350" dirty="0"/>
          </a:p>
        </p:txBody>
      </p:sp>
      <p:sp>
        <p:nvSpPr>
          <p:cNvPr id="10" name="Shape 8"/>
          <p:cNvSpPr/>
          <p:nvPr/>
        </p:nvSpPr>
        <p:spPr>
          <a:xfrm>
            <a:off x="6903720" y="3611880"/>
            <a:ext cx="48920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0" descr="/home/claude/asse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730752"/>
            <a:ext cx="4654296" cy="26426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analyzes Power BI's Top 10,000 Asia Companies dashboard — a single-page, fully cross-filterable view of workforce scale, hiring, compensation and gender diversity across 8 countries and 7 technology-led sectors.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121408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40080" y="31729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514600"/>
            <a:ext cx="2121408" cy="109728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501.8M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926080" y="31729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514600"/>
            <a:ext cx="2121408" cy="109728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212080" y="31729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(YR)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514600"/>
            <a:ext cx="2121408" cy="109728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₹16.96L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498080" y="31729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0" y="2514600"/>
            <a:ext cx="2121408" cy="109728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84080" y="31729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roadmap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445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50876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Dataset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508760" y="4892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 and the 18-field source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43484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54456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717804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178040" y="4892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became a live Power BI dashboard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550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1508760" y="55504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Analytics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508760" y="5897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sector, salary and diversity breakdowns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544068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4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55040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50" dirty="0"/>
          </a:p>
        </p:txBody>
      </p:sp>
      <p:sp>
        <p:nvSpPr>
          <p:cNvPr id="35" name="Text 33"/>
          <p:cNvSpPr/>
          <p:nvPr/>
        </p:nvSpPr>
        <p:spPr>
          <a:xfrm>
            <a:off x="7178040" y="55504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Next Steps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178040" y="5897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 and where to take it next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Top 10,000 companies across Asia using Power BI to uncover workforce size, hiring velocity, compensation and gender-diversity patterns — turning 18 raw data fields into a single interactive dashboard that supports executive decision-making.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delivers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5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view of company scale, hiring and pay across 8 Asian markets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5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Cross-filterable KPIs for country, sector, company and founding year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✦"/>
            </a:pPr>
            <a:r>
              <a:rPr lang="en-US" sz="155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model for benchmarking future workforce data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pic>
        <p:nvPicPr>
          <p:cNvPr id="11" name="Image 0" descr="/home/claude/icons/buil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011680"/>
            <a:ext cx="59436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92440" y="183794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50" dirty="0"/>
          </a:p>
        </p:txBody>
      </p:sp>
      <p:sp>
        <p:nvSpPr>
          <p:cNvPr id="13" name="Text 10"/>
          <p:cNvSpPr/>
          <p:nvPr/>
        </p:nvSpPr>
        <p:spPr>
          <a:xfrm>
            <a:off x="8110728" y="2350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ANALYZED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40880" y="3172968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pic>
        <p:nvPicPr>
          <p:cNvPr id="15" name="Image 1" descr="/home/claude/icons/glob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3493008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92440" y="33192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50" dirty="0"/>
          </a:p>
        </p:txBody>
      </p:sp>
      <p:sp>
        <p:nvSpPr>
          <p:cNvPr id="17" name="Text 13"/>
          <p:cNvSpPr/>
          <p:nvPr/>
        </p:nvSpPr>
        <p:spPr>
          <a:xfrm>
            <a:off x="8110728" y="38313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040880" y="4654296"/>
            <a:ext cx="461772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pic>
        <p:nvPicPr>
          <p:cNvPr id="19" name="Image 2" descr="/home/claude/icons/industr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974336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2440" y="4800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50" dirty="0"/>
          </a:p>
        </p:txBody>
      </p:sp>
      <p:sp>
        <p:nvSpPr>
          <p:cNvPr id="21" name="Text 16"/>
          <p:cNvSpPr/>
          <p:nvPr/>
        </p:nvSpPr>
        <p:spPr>
          <a:xfrm>
            <a:off x="8110728" y="53126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SECTORS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· ONE PER COMPANY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246120" cy="1737360"/>
          </a:xfrm>
          <a:prstGeom prst="roundRect">
            <a:avLst>
              <a:gd name="adj" fmla="val 368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· DATA FIELDS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60520" y="20848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60520" y="25054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Region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2926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3346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No_Of_Employees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60520" y="3767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Last_Year_Hirings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60520" y="4187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Hiring_Rate_Percent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60520" y="4608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Avg_Salary_LPA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55280" y="20848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Annual_Salary_Cost_Cr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0" y="250545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No_Of_Male / Female_Employees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2926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Female_Percentage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33467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Gender_Diversity_Score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0" y="3767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Company_Size_Category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0" y="4187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Salary_Band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0" y="4608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Sector Rank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160520" y="5166360"/>
            <a:ext cx="7452360" cy="0"/>
          </a:xfrm>
          <a:prstGeom prst="line">
            <a:avLst/>
          </a:prstGeom>
          <a:noFill/>
          <a:ln w="12700">
            <a:solidFill>
              <a:srgbClr val="E1E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5349240"/>
            <a:ext cx="7452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no missing values across the 10,000-row set; every company carries a complete workforce, pay and diversity profile.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Workflow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1463040" y="3017520"/>
            <a:ext cx="749808" cy="0"/>
          </a:xfrm>
          <a:prstGeom prst="line">
            <a:avLst/>
          </a:prstGeom>
          <a:noFill/>
          <a:ln w="25400">
            <a:solidFill>
              <a:srgbClr val="E1E5F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85800" y="26289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icons/impo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27980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48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" y="35433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0" y="393649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10,000-row source file into Power BI via Power Query.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75888" y="3017520"/>
            <a:ext cx="749808" cy="0"/>
          </a:xfrm>
          <a:prstGeom prst="line">
            <a:avLst/>
          </a:prstGeom>
          <a:noFill/>
          <a:ln w="25400">
            <a:solidFill>
              <a:srgbClr val="E1E5F5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2898648" y="26289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2" name="Image 1" descr="/home/claude/icons/clea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812" y="27980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15768" y="22448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395728" y="35433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212848" y="393649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types, and validate the 18 fields.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888736" y="3017520"/>
            <a:ext cx="749808" cy="0"/>
          </a:xfrm>
          <a:prstGeom prst="line">
            <a:avLst/>
          </a:prstGeom>
          <a:noFill/>
          <a:ln w="25400">
            <a:solidFill>
              <a:srgbClr val="E1E5F5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111496" y="26289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8" name="Image 2" descr="/home/claude/icons/transfor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27980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28616" y="22448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608576" y="35433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4425696" y="393649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and categorize company size, salary band and region.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01584" y="3017520"/>
            <a:ext cx="749808" cy="0"/>
          </a:xfrm>
          <a:prstGeom prst="line">
            <a:avLst/>
          </a:prstGeom>
          <a:noFill/>
          <a:ln w="25400">
            <a:solidFill>
              <a:srgbClr val="E1E5F5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7324344" y="26289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24" name="Image 3" descr="/home/claude/icons/calcula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508" y="279806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41464" y="22448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821424" y="35433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Measures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638544" y="393649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DAX measures for totals, rates and diversity scores.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537192" y="2628900"/>
            <a:ext cx="777240" cy="777240"/>
          </a:xfrm>
          <a:prstGeom prst="ellipse">
            <a:avLst/>
          </a:prstGeom>
          <a:solidFill>
            <a:srgbClr val="FFB400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29" name="Image 4" descr="/home/claude/icons/char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6356" y="2798064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54312" y="224485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9034272" y="35433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8851392" y="3936492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KPI cards, charts, slicers into one interactive view.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743200"/>
            <a:ext cx="5486400" cy="548640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81812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blurRad="254000" dist="1016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asse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7598664" cy="43982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783080"/>
            <a:ext cx="402336" cy="402336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8" name="Image 1" descr="/home/claude/icons/card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8745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0" y="17099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KPI cards driven by DAX measures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732520" y="2788920"/>
            <a:ext cx="402336" cy="402336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11" name="Image 2" descr="/home/claude/icons/filte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28803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35440" y="2715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synced slicers: country, city, industry, sector, year, CEO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732520" y="3794760"/>
            <a:ext cx="402336" cy="402336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14" name="Image 3" descr="/home/claude/icons/char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35440" y="37216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visuals — bar, line, donut and waterfall charts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732520" y="4800600"/>
            <a:ext cx="402336" cy="402336"/>
          </a:xfrm>
          <a:prstGeom prst="ellipse">
            <a:avLst/>
          </a:prstGeom>
          <a:solidFill>
            <a:srgbClr val="232C6B"/>
          </a:solidFill>
          <a:ln/>
        </p:spPr>
      </p:sp>
      <p:pic>
        <p:nvPicPr>
          <p:cNvPr id="17" name="Image 4" descr="/home/claude/icons/link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4892040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35440" y="47274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cross-highlighting between every visual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21408" cy="2423160"/>
          </a:xfrm>
          <a:prstGeom prst="roundRect">
            <a:avLst>
              <a:gd name="adj" fmla="val 3017"/>
            </a:avLst>
          </a:prstGeom>
          <a:solidFill>
            <a:srgbClr val="F4F6FC"/>
          </a:solidFill>
          <a:ln/>
        </p:spPr>
      </p:sp>
      <p:pic>
        <p:nvPicPr>
          <p:cNvPr id="5" name="Image 0" descr="/home/claude/icons/buil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COMPANIES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34640" y="1783080"/>
            <a:ext cx="2121408" cy="2423160"/>
          </a:xfrm>
          <a:prstGeom prst="roundRect">
            <a:avLst>
              <a:gd name="adj" fmla="val 3017"/>
            </a:avLst>
          </a:prstGeom>
          <a:solidFill>
            <a:srgbClr val="1E2761"/>
          </a:solidFill>
          <a:ln/>
        </p:spPr>
      </p:sp>
      <p:pic>
        <p:nvPicPr>
          <p:cNvPr id="9" name="Image 1" descr="/home/claude/icons/user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0574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27432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501.8M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2926080" y="3383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120640" y="1783080"/>
            <a:ext cx="2121408" cy="2423160"/>
          </a:xfrm>
          <a:prstGeom prst="roundRect">
            <a:avLst>
              <a:gd name="adj" fmla="val 3017"/>
            </a:avLst>
          </a:prstGeom>
          <a:solidFill>
            <a:srgbClr val="F4F6FC"/>
          </a:solidFill>
          <a:ln/>
        </p:spPr>
      </p:sp>
      <p:pic>
        <p:nvPicPr>
          <p:cNvPr id="13" name="Image 2" descr="/home/claude/icons/userplu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2057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27432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24.6M</a:t>
            </a:r>
            <a:endParaRPr lang="en-US" sz="2850" dirty="0"/>
          </a:p>
        </p:txBody>
      </p:sp>
      <p:sp>
        <p:nvSpPr>
          <p:cNvPr id="15" name="Text 10"/>
          <p:cNvSpPr/>
          <p:nvPr/>
        </p:nvSpPr>
        <p:spPr>
          <a:xfrm>
            <a:off x="5212080" y="3383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LAST-YEAR HIRINGS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406640" y="1783080"/>
            <a:ext cx="2121408" cy="2423160"/>
          </a:xfrm>
          <a:prstGeom prst="roundRect">
            <a:avLst>
              <a:gd name="adj" fmla="val 3017"/>
            </a:avLst>
          </a:prstGeom>
          <a:solidFill>
            <a:srgbClr val="F4F6FC"/>
          </a:solidFill>
          <a:ln/>
        </p:spPr>
      </p:sp>
      <p:pic>
        <p:nvPicPr>
          <p:cNvPr id="17" name="Image 3" descr="/home/claude/icons/mone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20574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27432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₹16.96L</a:t>
            </a:r>
            <a:endParaRPr lang="en-US" sz="2850" dirty="0"/>
          </a:p>
        </p:txBody>
      </p:sp>
      <p:sp>
        <p:nvSpPr>
          <p:cNvPr id="19" name="Text 13"/>
          <p:cNvSpPr/>
          <p:nvPr/>
        </p:nvSpPr>
        <p:spPr>
          <a:xfrm>
            <a:off x="7498080" y="3383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 (LPA)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92640" y="1783080"/>
            <a:ext cx="2121408" cy="2423160"/>
          </a:xfrm>
          <a:prstGeom prst="roundRect">
            <a:avLst>
              <a:gd name="adj" fmla="val 3017"/>
            </a:avLst>
          </a:prstGeom>
          <a:solidFill>
            <a:srgbClr val="F4F6FC"/>
          </a:solidFill>
          <a:ln/>
        </p:spPr>
      </p:sp>
      <p:pic>
        <p:nvPicPr>
          <p:cNvPr id="21" name="Image 4" descr="/home/claude/icons/scal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024" y="20574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92640" y="27432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</a:t>
            </a:r>
            <a:endParaRPr lang="en-US" sz="2850" dirty="0"/>
          </a:p>
        </p:txBody>
      </p:sp>
      <p:sp>
        <p:nvSpPr>
          <p:cNvPr id="23" name="Text 16"/>
          <p:cNvSpPr/>
          <p:nvPr/>
        </p:nvSpPr>
        <p:spPr>
          <a:xfrm>
            <a:off x="9784080" y="3383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DIVERSITY SCORE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E1E5F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  —  </a:t>
            </a:r>
            <a:r>
              <a:rPr lang="en-US" sz="16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is broad-based (avg. ~50,000 employees per company) and hiring stayed strong at roughly 4.9% of the total workforce last year, with pay levels clustered tightly around ₹17 LPA across markets.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Distribution by Country</a:t>
            </a:r>
            <a:endParaRPr lang="en-US" sz="35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1488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remarkably even spread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924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size ranges only from 61.1M in Japan to 66.1M in Vietnam — a spread of under 5M across all 8 markets. No single country dominates; hiring and operations are genuinely pan-Asian.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92440" y="4572000"/>
            <a:ext cx="3291840" cy="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— 66.1M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5074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— 61.1M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Hiring by Sector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by Sector (M employees)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55321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by Sector (M hires, last year)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17920" y="1965960"/>
          <a:ext cx="55321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 by Country</a:t>
            </a:r>
            <a:endParaRPr lang="en-US" sz="35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91640"/>
            <a:ext cx="3520440" cy="4343400"/>
          </a:xfrm>
          <a:prstGeom prst="roundRect">
            <a:avLst>
              <a:gd name="adj" fmla="val 1818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2240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is tightly clustered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0" y="29260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varies by less than ₹1 LPA across all 8 countries — from ₹16.67 LPA in Indonesia to ₹17.45 LPA in Singapore — pointing to consistent, regionally-benchmarked pay structures.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COMPOSITION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Diversity Overview</a:t>
            </a:r>
            <a:endParaRPr lang="en-US" sz="35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icons/gend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1168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948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 / 100</a:t>
            </a:r>
            <a:endParaRPr lang="en-US" sz="3050" dirty="0"/>
          </a:p>
        </p:txBody>
      </p:sp>
      <p:sp>
        <p:nvSpPr>
          <p:cNvPr id="8" name="Text 4"/>
          <p:cNvSpPr/>
          <p:nvPr/>
        </p:nvSpPr>
        <p:spPr>
          <a:xfrm>
            <a:off x="7287768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GENDER DIVERSITY SCORE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92240" y="2926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across all 10,000 companies as a balance measure between male and female headcount.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179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split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17920" y="4443984"/>
            <a:ext cx="146304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49224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employees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778240" y="4389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301.3M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05840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17920" y="5038344"/>
            <a:ext cx="146304" cy="36576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4983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employees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778240" y="4983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200.5M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058400" y="4983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40.0%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Size Distribution</a:t>
            </a:r>
            <a:endParaRPr lang="en-US" sz="35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4343400"/>
          </a:xfrm>
          <a:prstGeom prst="roundRect">
            <a:avLst>
              <a:gd name="adj" fmla="val 1667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20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240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firms dominate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001000" y="28803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dataset (5,002 companies) falls into the Large category. Medium-sized firms add another 3,001, while Startups (501) and true Enterprises (8) sit at the tail ends of the scale.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Companies by Workforce</a:t>
            </a:r>
            <a:endParaRPr lang="en-US" sz="3550" dirty="0"/>
          </a:p>
        </p:txBody>
      </p:sp>
      <p:pic>
        <p:nvPicPr>
          <p:cNvPr id="4" name="Image 0" descr="/home/claude/icons/troph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155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406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92124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148840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34440" y="214884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(TCS)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40680" y="2148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43800" y="214884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921240" y="21488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2770632"/>
            <a:ext cx="1115568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770632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34440" y="27706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40680" y="277063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543800" y="2770632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921240" y="277063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3392424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34440" y="339242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40680" y="339242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543800" y="3392424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921240" y="33924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320,000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014216"/>
            <a:ext cx="11155680" cy="62179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014216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34440" y="401421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440680" y="401421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543800" y="4014216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921240" y="401421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85800" y="4636008"/>
            <a:ext cx="365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234440" y="46360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440680" y="463600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543800" y="46360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921240" y="463600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240,000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leading firms are India-based IT-services companies — reflecting the country's position as Asia's largest IT-services employment hub.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Capabilities Used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databas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to import and reshape the raw CSV source.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alculato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1122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 for totals, rates and diversity scoring.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card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1122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cards summarizing scale, pay and hiring at a glance.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char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3525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/ Line / Donut Charts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22960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visual set matched to each analysis question.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filter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43525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72000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synced filters: country, city, industry, sector, year, CEO.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4F6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link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35254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892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Cross-Highlighting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321040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any visual filters every other visual in real time.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Recommendations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2C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7" name="Image 0" descr="/home/claude/icons/insigh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8424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0136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is genuinely pan-Asian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country holds more than 13% of total headcount — diversify supply-chain and hiring strategy across all 8 markets rather than over-indexing on one.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2C6B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56232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2" name="Image 1" descr="/home/claude/icons/sca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98424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0136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sits at a solid 78.2, with room to close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468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60/40 male-to-female split across 501M employees suggests targeted programs in the lower-scoring companies could lift the regional average further.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2C6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142232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7" name="Image 2" descr="/home/claude/icons/mone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7024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08736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is standardized, not a differentiator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754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salaries within ₹1 LPA of each other region-wide, competitive advantage in talent will come from role scope and culture, not base pay alone.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232C6B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142232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2" name="Image 3" descr="/home/claude/icons/gau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270248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08736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is concentrated in Large &amp; Medium firms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4754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companies are Large or Medium — dashboard filters by Company_Size_Category can fast-track enterprise deal targeting.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A215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3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endless strategic clarity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10K Asia Companies dashboard turns 10,000 rows and 18 fields into a scalable, user-friendly decision tool — ready to extend with forecasting, AI visuals and live connectivity as the next step.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1248" y="458114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494690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782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531266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48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Connectivity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5678424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513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232C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4688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endParaRPr lang="en-US" sz="4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8778240" y="4160520"/>
            <a:ext cx="228600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4343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10K ASIA COMPANIES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1203</Words>
  <Application>Microsoft Office PowerPoint</Application>
  <PresentationFormat>Widescreen</PresentationFormat>
  <Paragraphs>256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VIJAYAPURAM</cp:lastModifiedBy>
  <cp:revision>1</cp:revision>
  <dcterms:created xsi:type="dcterms:W3CDTF">2026-07-20T07:21:44Z</dcterms:created>
  <dcterms:modified xsi:type="dcterms:W3CDTF">2026-07-26T05:33:23Z</dcterms:modified>
</cp:coreProperties>
</file>